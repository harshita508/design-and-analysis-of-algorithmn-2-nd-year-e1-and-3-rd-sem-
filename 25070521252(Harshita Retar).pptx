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Kreon SemiBold" panose="020B0604020202020204" charset="0"/>
      <p:regular r:id="rId11"/>
    </p:embeddedFont>
    <p:embeddedFont>
      <p:font typeface="Signika" panose="020B0604020202020204" charset="0"/>
      <p:regular r:id="rId12"/>
    </p:embeddedFont>
    <p:embeddedFont>
      <p:font typeface="Signika Medium" panose="020B0604020202020204" charset="0"/>
      <p:regular r:id="rId13"/>
    </p:embeddedFont>
    <p:embeddedFont>
      <p:font typeface="Signika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358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2" y="3175000"/>
            <a:ext cx="8121334" cy="36188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7572" y="3514753"/>
            <a:ext cx="749281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DESIGN AND ANALYSIS OF ALGORITHMS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117572" y="3853902"/>
            <a:ext cx="6883228" cy="898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Merge Sort: A Visual Demonstration of the Divide and Conquer Algorithm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117572" y="4945261"/>
            <a:ext cx="7492813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Sorting by splitting, solving, and merging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7572" y="5542756"/>
            <a:ext cx="6883228" cy="850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Signika Medium" pitchFamily="34" charset="0"/>
                <a:ea typeface="Signika Medium" pitchFamily="34" charset="-122"/>
                <a:cs typeface="Signika Medium" pitchFamily="34" charset="-120"/>
              </a:rPr>
              <a:t>Student Name: HARSHITA VINAYAK RETAR  | PRN: 25070521252 | Division and Batch: 2 </a:t>
            </a:r>
            <a:r>
              <a:rPr lang="en-US" sz="1300" kern="100" spc="13" dirty="0" err="1">
                <a:solidFill>
                  <a:srgbClr val="FFFFFF"/>
                </a:solidFill>
                <a:latin typeface="Signika Medium" pitchFamily="34" charset="0"/>
                <a:ea typeface="Signika Medium" pitchFamily="34" charset="-122"/>
                <a:cs typeface="Signika Medium" pitchFamily="34" charset="-120"/>
              </a:rPr>
              <a:t>nd</a:t>
            </a:r>
            <a:r>
              <a:rPr lang="en-US" sz="1300" kern="100" spc="13" dirty="0">
                <a:solidFill>
                  <a:srgbClr val="FFFFFF"/>
                </a:solidFill>
                <a:latin typeface="Signika Medium" pitchFamily="34" charset="0"/>
                <a:ea typeface="Signika Medium" pitchFamily="34" charset="-122"/>
                <a:cs typeface="Signika Medium" pitchFamily="34" charset="-120"/>
              </a:rPr>
              <a:t> Year (E1) | Department: Computer Science | Field: Engineering | AI Tool : Made with gamma AI </a:t>
            </a:r>
          </a:p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endParaRPr lang="en-US" sz="1300" kern="100" spc="13" dirty="0">
              <a:solidFill>
                <a:srgbClr val="FFFFFF"/>
              </a:solidFill>
              <a:latin typeface="Signika Medium" pitchFamily="34" charset="0"/>
            </a:endParaRPr>
          </a:p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60703" cy="685800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484215"/>
            <a:ext cx="347971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0990" y="819788"/>
            <a:ext cx="3098722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000000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What is sorting?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80990" y="1455440"/>
            <a:ext cx="3098722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Sorting arranges items in a defined order, such as smallest to largest.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0990" y="4569123"/>
            <a:ext cx="3098722" cy="1806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Example: [8, 3, 6, 2] becomes [2, 3, 6, 8].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Merge Sort is a comparison-based sorting algorithm built on Divide and Conquer.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94090" y="431800"/>
            <a:ext cx="3530512" cy="2844800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8" name="Text 6"/>
          <p:cNvSpPr/>
          <p:nvPr/>
        </p:nvSpPr>
        <p:spPr>
          <a:xfrm>
            <a:off x="4698882" y="715963"/>
            <a:ext cx="292092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Sorting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98882" y="1257300"/>
            <a:ext cx="292092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Rearranging the elements of a list into non-decreasing order.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394" y="431800"/>
            <a:ext cx="3530512" cy="2844800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11" name="Text 9"/>
          <p:cNvSpPr/>
          <p:nvPr/>
        </p:nvSpPr>
        <p:spPr>
          <a:xfrm>
            <a:off x="8534187" y="715963"/>
            <a:ext cx="292092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Merge Sort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34187" y="1257300"/>
            <a:ext cx="292092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Split the array in half, sort each half, then merge the two sorted halves.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94090" y="3581400"/>
            <a:ext cx="3530512" cy="2844800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14" name="Text 12"/>
          <p:cNvSpPr/>
          <p:nvPr/>
        </p:nvSpPr>
        <p:spPr>
          <a:xfrm>
            <a:off x="4698882" y="3865563"/>
            <a:ext cx="292092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Why “Divide and Conquer”?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98882" y="4787900"/>
            <a:ext cx="292092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A big problem is broken into smaller problems of the same type.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394" y="3581400"/>
            <a:ext cx="3530512" cy="2844800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17" name="Text 15"/>
          <p:cNvSpPr/>
          <p:nvPr/>
        </p:nvSpPr>
        <p:spPr>
          <a:xfrm>
            <a:off x="8534187" y="3865563"/>
            <a:ext cx="292092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Where it is useful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34187" y="4406900"/>
            <a:ext cx="292092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Large datasets, sorting files too big for memory, and databases.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802626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484215"/>
            <a:ext cx="330191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THE STRATEGY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591" y="839049"/>
            <a:ext cx="2946326" cy="1901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48" dirty="0">
                <a:solidFill>
                  <a:srgbClr val="FFFFFF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Break it.</a:t>
            </a:r>
            <a:endParaRPr lang="en-US" sz="48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48" dirty="0">
                <a:solidFill>
                  <a:srgbClr val="FFFFFF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Solve it.</a:t>
            </a:r>
            <a:endParaRPr lang="en-US" sz="48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48" dirty="0">
                <a:solidFill>
                  <a:srgbClr val="FFFFFF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Stitch it.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55591" y="5735439"/>
            <a:ext cx="29463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The same three steps repeat at every level of recursion.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90895" y="463592"/>
            <a:ext cx="759441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2B1B18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Divide and Conquer Technique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90895" y="1099245"/>
            <a:ext cx="2095448" cy="5377755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8" name="Text 6"/>
          <p:cNvSpPr/>
          <p:nvPr/>
        </p:nvSpPr>
        <p:spPr>
          <a:xfrm>
            <a:off x="4419489" y="1332607"/>
            <a:ext cx="163825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Divide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419489" y="1873945"/>
            <a:ext cx="1638259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Split the array [8, 3, 6, 2] into halves [8, 3] and [6, 2].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38739" y="3539232"/>
            <a:ext cx="465721" cy="4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056757" y="1099245"/>
            <a:ext cx="2095448" cy="5377755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12" name="Text 10"/>
          <p:cNvSpPr/>
          <p:nvPr/>
        </p:nvSpPr>
        <p:spPr>
          <a:xfrm>
            <a:off x="7285351" y="1332607"/>
            <a:ext cx="163825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Conquer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85351" y="1873945"/>
            <a:ext cx="1638259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Sort each half recursively until a piece has one element.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04601" y="3539232"/>
            <a:ext cx="465622" cy="4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922619" y="1099245"/>
            <a:ext cx="1862686" cy="5377755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16" name="Text 14"/>
          <p:cNvSpPr/>
          <p:nvPr/>
        </p:nvSpPr>
        <p:spPr>
          <a:xfrm>
            <a:off x="10151213" y="1332607"/>
            <a:ext cx="140549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Combine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151213" y="1873945"/>
            <a:ext cx="1405498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Merge the sorted halves into [2, 3, 6, 8].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5591" y="484554"/>
            <a:ext cx="289552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55591" y="774787"/>
            <a:ext cx="2539936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kern="100" spc="-14" dirty="0">
                <a:solidFill>
                  <a:srgbClr val="000000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Sorting [8, 3, 6, 2]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355591" y="5551488"/>
            <a:ext cx="253993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Each row is one stage of Merge Sort. Read from top to bottom.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08307" y="382954"/>
            <a:ext cx="848338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ORIGINAL ARRAY ↓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08307" y="741561"/>
            <a:ext cx="8051499" cy="80109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8" name="Text 6"/>
          <p:cNvSpPr/>
          <p:nvPr/>
        </p:nvSpPr>
        <p:spPr>
          <a:xfrm>
            <a:off x="3936902" y="974683"/>
            <a:ext cx="7594311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[8, 3, 6, 2]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3708307" y="1712684"/>
            <a:ext cx="848338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FIRST DIVISION ↓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08307" y="2071291"/>
            <a:ext cx="3949502" cy="801092"/>
          </a:xfrm>
          <a:prstGeom prst="rect">
            <a:avLst/>
          </a:prstGeom>
          <a:solidFill>
            <a:srgbClr val="80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936902" y="2304413"/>
            <a:ext cx="3492313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FFFFF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[8, 3]</a:t>
            </a:r>
            <a:endParaRPr lang="en-US" sz="2150" dirty="0"/>
          </a:p>
        </p:txBody>
      </p:sp>
      <p:sp>
        <p:nvSpPr>
          <p:cNvPr id="12" name="Shape 10"/>
          <p:cNvSpPr/>
          <p:nvPr/>
        </p:nvSpPr>
        <p:spPr>
          <a:xfrm>
            <a:off x="7810205" y="2071291"/>
            <a:ext cx="3949601" cy="801092"/>
          </a:xfrm>
          <a:prstGeom prst="rect">
            <a:avLst/>
          </a:prstGeom>
          <a:solidFill>
            <a:srgbClr val="80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8038800" y="2304413"/>
            <a:ext cx="3492413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FFFFF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[6, 2]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3708307" y="3042414"/>
            <a:ext cx="848338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SECOND DIVISION ↓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08307" y="3401020"/>
            <a:ext cx="1898503" cy="80109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16" name="Text 14"/>
          <p:cNvSpPr/>
          <p:nvPr/>
        </p:nvSpPr>
        <p:spPr>
          <a:xfrm>
            <a:off x="3936902" y="3634142"/>
            <a:ext cx="1441315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[8]</a:t>
            </a:r>
            <a:endParaRPr lang="en-US" sz="2150" dirty="0"/>
          </a:p>
        </p:txBody>
      </p:sp>
      <p:sp>
        <p:nvSpPr>
          <p:cNvPr id="17" name="Shape 15"/>
          <p:cNvSpPr/>
          <p:nvPr/>
        </p:nvSpPr>
        <p:spPr>
          <a:xfrm>
            <a:off x="5759207" y="3401020"/>
            <a:ext cx="1898603" cy="80109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18" name="Text 16"/>
          <p:cNvSpPr/>
          <p:nvPr/>
        </p:nvSpPr>
        <p:spPr>
          <a:xfrm>
            <a:off x="5987801" y="3634142"/>
            <a:ext cx="1441414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[3]</a:t>
            </a:r>
            <a:endParaRPr lang="en-US" sz="2150" dirty="0"/>
          </a:p>
        </p:txBody>
      </p:sp>
      <p:sp>
        <p:nvSpPr>
          <p:cNvPr id="19" name="Shape 17"/>
          <p:cNvSpPr/>
          <p:nvPr/>
        </p:nvSpPr>
        <p:spPr>
          <a:xfrm>
            <a:off x="7810205" y="3401020"/>
            <a:ext cx="1898603" cy="80109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20" name="Text 18"/>
          <p:cNvSpPr/>
          <p:nvPr/>
        </p:nvSpPr>
        <p:spPr>
          <a:xfrm>
            <a:off x="8038800" y="3634142"/>
            <a:ext cx="1441414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[6]</a:t>
            </a:r>
            <a:endParaRPr lang="en-US" sz="2150" dirty="0"/>
          </a:p>
        </p:txBody>
      </p:sp>
      <p:sp>
        <p:nvSpPr>
          <p:cNvPr id="21" name="Shape 19"/>
          <p:cNvSpPr/>
          <p:nvPr/>
        </p:nvSpPr>
        <p:spPr>
          <a:xfrm>
            <a:off x="9861204" y="3401020"/>
            <a:ext cx="1898603" cy="80109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89798" y="3634142"/>
            <a:ext cx="1441414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[2]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3708307" y="4372143"/>
            <a:ext cx="848338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FIRST MERGING STAGE ↑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708307" y="4730750"/>
            <a:ext cx="3949502" cy="801092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25" name="Text 23"/>
          <p:cNvSpPr/>
          <p:nvPr/>
        </p:nvSpPr>
        <p:spPr>
          <a:xfrm>
            <a:off x="3936902" y="4963872"/>
            <a:ext cx="3492313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[3, 8]</a:t>
            </a:r>
            <a:endParaRPr lang="en-US" sz="2150" dirty="0"/>
          </a:p>
        </p:txBody>
      </p:sp>
      <p:sp>
        <p:nvSpPr>
          <p:cNvPr id="26" name="Shape 24"/>
          <p:cNvSpPr/>
          <p:nvPr/>
        </p:nvSpPr>
        <p:spPr>
          <a:xfrm>
            <a:off x="7810205" y="4730750"/>
            <a:ext cx="3949601" cy="801092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27" name="Text 25"/>
          <p:cNvSpPr/>
          <p:nvPr/>
        </p:nvSpPr>
        <p:spPr>
          <a:xfrm>
            <a:off x="8038800" y="4963872"/>
            <a:ext cx="3492413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[2, 6]</a:t>
            </a:r>
            <a:endParaRPr lang="en-US" sz="2150" dirty="0"/>
          </a:p>
        </p:txBody>
      </p:sp>
      <p:sp>
        <p:nvSpPr>
          <p:cNvPr id="28" name="Text 26"/>
          <p:cNvSpPr/>
          <p:nvPr/>
        </p:nvSpPr>
        <p:spPr>
          <a:xfrm>
            <a:off x="3708307" y="5701873"/>
            <a:ext cx="848338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FINAL MERGING STAGE ↑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08307" y="6060480"/>
            <a:ext cx="8483693" cy="801092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30" name="Text 28"/>
          <p:cNvSpPr/>
          <p:nvPr/>
        </p:nvSpPr>
        <p:spPr>
          <a:xfrm>
            <a:off x="3936902" y="6293602"/>
            <a:ext cx="7594311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[2, 3, 6, 8]</a:t>
            </a:r>
            <a:endParaRPr lang="en-US" sz="2150" dirty="0"/>
          </a:p>
        </p:txBody>
      </p:sp>
      <p:sp>
        <p:nvSpPr>
          <p:cNvPr id="31" name="Text 29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5591" y="482600"/>
            <a:ext cx="4114697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1" dirty="0">
                <a:solidFill>
                  <a:srgbClr val="FFFFF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ALGORITHM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55591" y="723432"/>
            <a:ext cx="3759106" cy="336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50" kern="100" spc="-12" dirty="0">
                <a:solidFill>
                  <a:srgbClr val="FFFFFF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MergeSort and Merge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355591" y="1173127"/>
            <a:ext cx="3759106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Merge compares the front elements of two sorted subarrays and copies the smaller one into the result, until everything is merged.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5591" y="6210995"/>
            <a:ext cx="4114697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10" dirty="0">
                <a:solidFill>
                  <a:srgbClr val="FFFFFF"/>
                </a:solidFill>
                <a:latin typeface="Signika Medium" pitchFamily="34" charset="0"/>
                <a:ea typeface="Signika Medium" pitchFamily="34" charset="-122"/>
                <a:cs typeface="Signika Medium" pitchFamily="34" charset="-120"/>
              </a:rPr>
              <a:t>Pseudocode is language-neutral.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61319" y="562471"/>
            <a:ext cx="6488545" cy="5884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5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351DC2-3149-773E-EDC6-7F5E3DDF9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146" y="0"/>
            <a:ext cx="1224784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8815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COMPLEXITY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794388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2B1B18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Time and Space Complexity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430040"/>
          <a:ext cx="11175720" cy="2884417"/>
        </p:xfrm>
        <a:graphic>
          <a:graphicData uri="http://schemas.openxmlformats.org/drawingml/2006/table">
            <a:tbl>
              <a:tblPr/>
              <a:tblGrid>
                <a:gridCol w="268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9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1B18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Case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1B18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Time complexity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1B18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Meaning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Best case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O(n log n)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Even sorted input is split and merged fully.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Average case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O(n log n)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Typical random input.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Worst case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O(n log n)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Reverse-sorted input needs the same work.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7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Auxiliary space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O(n)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Temporary arrays used while merging, excluding the input.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7987" y="4517727"/>
            <a:ext cx="3521979" cy="1912441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6" name="Text 3"/>
          <p:cNvSpPr/>
          <p:nvPr/>
        </p:nvSpPr>
        <p:spPr>
          <a:xfrm>
            <a:off x="736582" y="4725690"/>
            <a:ext cx="306479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n</a:t>
            </a:r>
            <a:endParaRPr lang="en-US" sz="2400" dirty="0"/>
          </a:p>
        </p:txBody>
      </p:sp>
      <p:sp>
        <p:nvSpPr>
          <p:cNvPr id="4" name="Text 4"/>
          <p:cNvSpPr/>
          <p:nvPr/>
        </p:nvSpPr>
        <p:spPr>
          <a:xfrm>
            <a:off x="736582" y="5267027"/>
            <a:ext cx="306479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The number of elements in the array.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34759" y="4517727"/>
            <a:ext cx="3522078" cy="1912441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9" name="Text 6"/>
          <p:cNvSpPr/>
          <p:nvPr/>
        </p:nvSpPr>
        <p:spPr>
          <a:xfrm>
            <a:off x="4563353" y="4725690"/>
            <a:ext cx="306489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log 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63353" y="5267027"/>
            <a:ext cx="306489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Approximate number of division levels, since the size halves each time.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161629" y="4517727"/>
            <a:ext cx="3522078" cy="1912441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12" name="Text 9"/>
          <p:cNvSpPr/>
          <p:nvPr/>
        </p:nvSpPr>
        <p:spPr>
          <a:xfrm>
            <a:off x="8390224" y="4725690"/>
            <a:ext cx="306489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O(n log n)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390224" y="5267027"/>
            <a:ext cx="306489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Each level does O(n) merge work, so total time is O(n) × O(log n).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8815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794388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2B1B18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Advantages and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87" y="1353840"/>
            <a:ext cx="5435464" cy="2499122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1638002"/>
            <a:ext cx="482587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Advantages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780" y="2179340"/>
            <a:ext cx="4825879" cy="1394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Efficient for large datasets.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Predictable O(n log n) time in every case.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Stable: equal elements keep their original order.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48244" y="1353840"/>
            <a:ext cx="5435464" cy="249912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8" name="Text 6"/>
          <p:cNvSpPr/>
          <p:nvPr/>
        </p:nvSpPr>
        <p:spPr>
          <a:xfrm>
            <a:off x="6553036" y="1638002"/>
            <a:ext cx="482587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53036" y="2179340"/>
            <a:ext cx="4825879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Needs extra memory, O(n), for standard array merging.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More overhead than simpler algorithms for very small arrays.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3" name="Text 1"/>
          <p:cNvSpPr/>
          <p:nvPr/>
        </p:nvSpPr>
        <p:spPr>
          <a:xfrm>
            <a:off x="406390" y="484215"/>
            <a:ext cx="690862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06390" y="819788"/>
            <a:ext cx="6502237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000000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Divide, sort, merge.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06390" y="1455440"/>
            <a:ext cx="6502237" cy="1486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Merge Sort uses Divide and Conquer: it divides an array, sorts the smaller parts, and merges them back together.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It runs in O(n log n) time in the best, average, and worst cases, which makes it a useful and efficient sorting method.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90" y="6160790"/>
            <a:ext cx="690862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000000"/>
                </a:solidFill>
                <a:latin typeface="Signika Medium" pitchFamily="34" charset="0"/>
                <a:ea typeface="Signika Medium" pitchFamily="34" charset="-122"/>
                <a:cs typeface="Signika Medium" pitchFamily="34" charset="-120"/>
              </a:rPr>
              <a:t>Generated using Gamma AI.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70608" y="487363"/>
            <a:ext cx="416549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2B1B18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70608" y="1028700"/>
            <a:ext cx="4165496" cy="1657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Course notes: Design and Analysis of Algorithms (DAA), your class material.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Cormen, T. H., Leiserson, C. E., Rivest, R. L., and Stein, C. Introduction to Algorithms (CLRS). MIT Press.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694</Words>
  <Application>Microsoft Office PowerPoint</Application>
  <PresentationFormat>Widescreen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Signika SemiBold</vt:lpstr>
      <vt:lpstr>Signika</vt:lpstr>
      <vt:lpstr>Kreon SemiBold</vt:lpstr>
      <vt:lpstr>Signika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HARSHITA RETAR</cp:lastModifiedBy>
  <cp:revision>3</cp:revision>
  <dcterms:created xsi:type="dcterms:W3CDTF">2026-10-20T15:49:43Z</dcterms:created>
  <dcterms:modified xsi:type="dcterms:W3CDTF">2026-10-22T07:00:26Z</dcterms:modified>
</cp:coreProperties>
</file>